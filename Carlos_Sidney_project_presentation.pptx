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C9F3E-3AF2-42D3-A3C6-D46729CEC0F9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305EFA2-52ED-4600-826C-BC5CDB8CAADB}">
      <dgm:prSet/>
      <dgm:spPr/>
      <dgm:t>
        <a:bodyPr/>
        <a:lstStyle/>
        <a:p>
          <a:r>
            <a:rPr lang="en-US"/>
            <a:t>The primary dataset used originates from datamontgomery </a:t>
          </a:r>
        </a:p>
      </dgm:t>
    </dgm:pt>
    <dgm:pt modelId="{3A298645-61BD-4B19-8B87-B84650FD31E3}" type="parTrans" cxnId="{2942EA88-008C-41CF-B20E-7329DF3361C6}">
      <dgm:prSet/>
      <dgm:spPr/>
      <dgm:t>
        <a:bodyPr/>
        <a:lstStyle/>
        <a:p>
          <a:endParaRPr lang="en-US"/>
        </a:p>
      </dgm:t>
    </dgm:pt>
    <dgm:pt modelId="{5539D53A-88F8-439D-9519-11A0F8E75870}" type="sibTrans" cxnId="{2942EA88-008C-41CF-B20E-7329DF3361C6}">
      <dgm:prSet/>
      <dgm:spPr/>
      <dgm:t>
        <a:bodyPr/>
        <a:lstStyle/>
        <a:p>
          <a:endParaRPr lang="en-US"/>
        </a:p>
      </dgm:t>
    </dgm:pt>
    <dgm:pt modelId="{DF247DED-C620-4723-A0EF-4977C28F718B}">
      <dgm:prSet/>
      <dgm:spPr/>
      <dgm:t>
        <a:bodyPr/>
        <a:lstStyle/>
        <a:p>
          <a:r>
            <a:rPr lang="en-US"/>
            <a:t>approximately 315,000 observations &amp; 30 variables </a:t>
          </a:r>
        </a:p>
      </dgm:t>
    </dgm:pt>
    <dgm:pt modelId="{81A66F6F-BA6A-4801-93C4-026A189BE67C}" type="parTrans" cxnId="{8C742E08-1FAB-448A-9176-DE4A7C25E47B}">
      <dgm:prSet/>
      <dgm:spPr/>
      <dgm:t>
        <a:bodyPr/>
        <a:lstStyle/>
        <a:p>
          <a:endParaRPr lang="en-US"/>
        </a:p>
      </dgm:t>
    </dgm:pt>
    <dgm:pt modelId="{4FD8FD6A-D83D-4594-B3B1-E3D4EC4C51E1}" type="sibTrans" cxnId="{8C742E08-1FAB-448A-9176-DE4A7C25E47B}">
      <dgm:prSet/>
      <dgm:spPr/>
      <dgm:t>
        <a:bodyPr/>
        <a:lstStyle/>
        <a:p>
          <a:endParaRPr lang="en-US"/>
        </a:p>
      </dgm:t>
    </dgm:pt>
    <dgm:pt modelId="{B8189E1E-58B4-42D2-AE0C-8CA70BA19B11}">
      <dgm:prSet/>
      <dgm:spPr/>
      <dgm:t>
        <a:bodyPr/>
        <a:lstStyle/>
        <a:p>
          <a:r>
            <a:rPr lang="en-US"/>
            <a:t>It gives information about incidents reported to MCPD</a:t>
          </a:r>
        </a:p>
      </dgm:t>
    </dgm:pt>
    <dgm:pt modelId="{5882720A-F9A6-405B-B060-DDD26EC4930A}" type="parTrans" cxnId="{DCE9F2BB-D086-4936-A48C-5E5E6911E84D}">
      <dgm:prSet/>
      <dgm:spPr/>
      <dgm:t>
        <a:bodyPr/>
        <a:lstStyle/>
        <a:p>
          <a:endParaRPr lang="en-US"/>
        </a:p>
      </dgm:t>
    </dgm:pt>
    <dgm:pt modelId="{30502DB2-F270-47DB-A8FF-CDCCC5E274C3}" type="sibTrans" cxnId="{DCE9F2BB-D086-4936-A48C-5E5E6911E84D}">
      <dgm:prSet/>
      <dgm:spPr/>
      <dgm:t>
        <a:bodyPr/>
        <a:lstStyle/>
        <a:p>
          <a:endParaRPr lang="en-US"/>
        </a:p>
      </dgm:t>
    </dgm:pt>
    <dgm:pt modelId="{13644CF9-2593-4D01-9900-A4031E0DEE08}">
      <dgm:prSet/>
      <dgm:spPr/>
      <dgm:t>
        <a:bodyPr/>
        <a:lstStyle/>
        <a:p>
          <a:r>
            <a:rPr lang="en-US"/>
            <a:t>The project also used socioeconomic data collected from U.S Census Bureau that provide information about median household income and population across MOCO districts </a:t>
          </a:r>
        </a:p>
      </dgm:t>
    </dgm:pt>
    <dgm:pt modelId="{5EAF34AB-B197-4310-9B91-FE4439D55251}" type="parTrans" cxnId="{256EB2BF-F298-400B-9249-B4EF1FFD70DB}">
      <dgm:prSet/>
      <dgm:spPr/>
      <dgm:t>
        <a:bodyPr/>
        <a:lstStyle/>
        <a:p>
          <a:endParaRPr lang="en-US"/>
        </a:p>
      </dgm:t>
    </dgm:pt>
    <dgm:pt modelId="{F2363876-36BD-4D66-87CE-1B3EAAB9B195}" type="sibTrans" cxnId="{256EB2BF-F298-400B-9249-B4EF1FFD70DB}">
      <dgm:prSet/>
      <dgm:spPr/>
      <dgm:t>
        <a:bodyPr/>
        <a:lstStyle/>
        <a:p>
          <a:endParaRPr lang="en-US"/>
        </a:p>
      </dgm:t>
    </dgm:pt>
    <dgm:pt modelId="{D595EACE-6079-4D06-B55A-B037D92B8410}" type="pres">
      <dgm:prSet presAssocID="{BC5C9F3E-3AF2-42D3-A3C6-D46729CEC0F9}" presName="outerComposite" presStyleCnt="0">
        <dgm:presLayoutVars>
          <dgm:chMax val="5"/>
          <dgm:dir/>
          <dgm:resizeHandles val="exact"/>
        </dgm:presLayoutVars>
      </dgm:prSet>
      <dgm:spPr/>
    </dgm:pt>
    <dgm:pt modelId="{1DB7DA6A-817F-46B3-8225-1204D8E57782}" type="pres">
      <dgm:prSet presAssocID="{BC5C9F3E-3AF2-42D3-A3C6-D46729CEC0F9}" presName="dummyMaxCanvas" presStyleCnt="0">
        <dgm:presLayoutVars/>
      </dgm:prSet>
      <dgm:spPr/>
    </dgm:pt>
    <dgm:pt modelId="{DDDBC330-E7E2-46D5-A29B-91CF30D180E2}" type="pres">
      <dgm:prSet presAssocID="{BC5C9F3E-3AF2-42D3-A3C6-D46729CEC0F9}" presName="FourNodes_1" presStyleLbl="node1" presStyleIdx="0" presStyleCnt="4">
        <dgm:presLayoutVars>
          <dgm:bulletEnabled val="1"/>
        </dgm:presLayoutVars>
      </dgm:prSet>
      <dgm:spPr/>
    </dgm:pt>
    <dgm:pt modelId="{715A4B6F-A6F4-4D0B-8B3B-6AB1AA9602E3}" type="pres">
      <dgm:prSet presAssocID="{BC5C9F3E-3AF2-42D3-A3C6-D46729CEC0F9}" presName="FourNodes_2" presStyleLbl="node1" presStyleIdx="1" presStyleCnt="4">
        <dgm:presLayoutVars>
          <dgm:bulletEnabled val="1"/>
        </dgm:presLayoutVars>
      </dgm:prSet>
      <dgm:spPr/>
    </dgm:pt>
    <dgm:pt modelId="{0B19148A-5EF4-4B5F-A93D-5C622CD0967E}" type="pres">
      <dgm:prSet presAssocID="{BC5C9F3E-3AF2-42D3-A3C6-D46729CEC0F9}" presName="FourNodes_3" presStyleLbl="node1" presStyleIdx="2" presStyleCnt="4">
        <dgm:presLayoutVars>
          <dgm:bulletEnabled val="1"/>
        </dgm:presLayoutVars>
      </dgm:prSet>
      <dgm:spPr/>
    </dgm:pt>
    <dgm:pt modelId="{DDB1F52A-13B1-4428-8353-15FDB79250B5}" type="pres">
      <dgm:prSet presAssocID="{BC5C9F3E-3AF2-42D3-A3C6-D46729CEC0F9}" presName="FourNodes_4" presStyleLbl="node1" presStyleIdx="3" presStyleCnt="4">
        <dgm:presLayoutVars>
          <dgm:bulletEnabled val="1"/>
        </dgm:presLayoutVars>
      </dgm:prSet>
      <dgm:spPr/>
    </dgm:pt>
    <dgm:pt modelId="{4C732869-91DD-4E37-B4CC-DCC4EF6CDEAD}" type="pres">
      <dgm:prSet presAssocID="{BC5C9F3E-3AF2-42D3-A3C6-D46729CEC0F9}" presName="FourConn_1-2" presStyleLbl="fgAccFollowNode1" presStyleIdx="0" presStyleCnt="3">
        <dgm:presLayoutVars>
          <dgm:bulletEnabled val="1"/>
        </dgm:presLayoutVars>
      </dgm:prSet>
      <dgm:spPr/>
    </dgm:pt>
    <dgm:pt modelId="{FB458FC9-CB1D-4E9C-9EB1-F71FFAFD417B}" type="pres">
      <dgm:prSet presAssocID="{BC5C9F3E-3AF2-42D3-A3C6-D46729CEC0F9}" presName="FourConn_2-3" presStyleLbl="fgAccFollowNode1" presStyleIdx="1" presStyleCnt="3">
        <dgm:presLayoutVars>
          <dgm:bulletEnabled val="1"/>
        </dgm:presLayoutVars>
      </dgm:prSet>
      <dgm:spPr/>
    </dgm:pt>
    <dgm:pt modelId="{B6B3A016-025B-4E97-AC9C-0D582A2A6558}" type="pres">
      <dgm:prSet presAssocID="{BC5C9F3E-3AF2-42D3-A3C6-D46729CEC0F9}" presName="FourConn_3-4" presStyleLbl="fgAccFollowNode1" presStyleIdx="2" presStyleCnt="3">
        <dgm:presLayoutVars>
          <dgm:bulletEnabled val="1"/>
        </dgm:presLayoutVars>
      </dgm:prSet>
      <dgm:spPr/>
    </dgm:pt>
    <dgm:pt modelId="{E736CFFD-4266-4073-8D9F-D515CB2DB902}" type="pres">
      <dgm:prSet presAssocID="{BC5C9F3E-3AF2-42D3-A3C6-D46729CEC0F9}" presName="FourNodes_1_text" presStyleLbl="node1" presStyleIdx="3" presStyleCnt="4">
        <dgm:presLayoutVars>
          <dgm:bulletEnabled val="1"/>
        </dgm:presLayoutVars>
      </dgm:prSet>
      <dgm:spPr/>
    </dgm:pt>
    <dgm:pt modelId="{4499F0BD-BC75-4D91-B454-4F29EA3612E1}" type="pres">
      <dgm:prSet presAssocID="{BC5C9F3E-3AF2-42D3-A3C6-D46729CEC0F9}" presName="FourNodes_2_text" presStyleLbl="node1" presStyleIdx="3" presStyleCnt="4">
        <dgm:presLayoutVars>
          <dgm:bulletEnabled val="1"/>
        </dgm:presLayoutVars>
      </dgm:prSet>
      <dgm:spPr/>
    </dgm:pt>
    <dgm:pt modelId="{255A54BE-FC7E-48BA-9D13-B76AE434D302}" type="pres">
      <dgm:prSet presAssocID="{BC5C9F3E-3AF2-42D3-A3C6-D46729CEC0F9}" presName="FourNodes_3_text" presStyleLbl="node1" presStyleIdx="3" presStyleCnt="4">
        <dgm:presLayoutVars>
          <dgm:bulletEnabled val="1"/>
        </dgm:presLayoutVars>
      </dgm:prSet>
      <dgm:spPr/>
    </dgm:pt>
    <dgm:pt modelId="{2CBCF573-B1AA-4AB6-B0A6-B0D798530C17}" type="pres">
      <dgm:prSet presAssocID="{BC5C9F3E-3AF2-42D3-A3C6-D46729CEC0F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C742E08-1FAB-448A-9176-DE4A7C25E47B}" srcId="{BC5C9F3E-3AF2-42D3-A3C6-D46729CEC0F9}" destId="{DF247DED-C620-4723-A0EF-4977C28F718B}" srcOrd="1" destOrd="0" parTransId="{81A66F6F-BA6A-4801-93C4-026A189BE67C}" sibTransId="{4FD8FD6A-D83D-4594-B3B1-E3D4EC4C51E1}"/>
    <dgm:cxn modelId="{06FF930A-A178-4F94-9D8F-CED773F99753}" type="presOf" srcId="{DF247DED-C620-4723-A0EF-4977C28F718B}" destId="{4499F0BD-BC75-4D91-B454-4F29EA3612E1}" srcOrd="1" destOrd="0" presId="urn:microsoft.com/office/officeart/2005/8/layout/vProcess5"/>
    <dgm:cxn modelId="{47A2BF23-2576-4FEE-A474-F28F9CAB4FBF}" type="presOf" srcId="{13644CF9-2593-4D01-9900-A4031E0DEE08}" destId="{DDB1F52A-13B1-4428-8353-15FDB79250B5}" srcOrd="0" destOrd="0" presId="urn:microsoft.com/office/officeart/2005/8/layout/vProcess5"/>
    <dgm:cxn modelId="{9AAFB43F-0F58-4CF6-9B04-B0D0D75D2B5B}" type="presOf" srcId="{4FD8FD6A-D83D-4594-B3B1-E3D4EC4C51E1}" destId="{FB458FC9-CB1D-4E9C-9EB1-F71FFAFD417B}" srcOrd="0" destOrd="0" presId="urn:microsoft.com/office/officeart/2005/8/layout/vProcess5"/>
    <dgm:cxn modelId="{E5278A51-4808-476D-B5F3-F1E5F0443625}" type="presOf" srcId="{5539D53A-88F8-439D-9519-11A0F8E75870}" destId="{4C732869-91DD-4E37-B4CC-DCC4EF6CDEAD}" srcOrd="0" destOrd="0" presId="urn:microsoft.com/office/officeart/2005/8/layout/vProcess5"/>
    <dgm:cxn modelId="{1CCE5852-B79C-4DC9-B0CA-1FEB3A9AECDC}" type="presOf" srcId="{30502DB2-F270-47DB-A8FF-CDCCC5E274C3}" destId="{B6B3A016-025B-4E97-AC9C-0D582A2A6558}" srcOrd="0" destOrd="0" presId="urn:microsoft.com/office/officeart/2005/8/layout/vProcess5"/>
    <dgm:cxn modelId="{A49D2859-BCC8-4955-91B0-78B2923C3C95}" type="presOf" srcId="{2305EFA2-52ED-4600-826C-BC5CDB8CAADB}" destId="{DDDBC330-E7E2-46D5-A29B-91CF30D180E2}" srcOrd="0" destOrd="0" presId="urn:microsoft.com/office/officeart/2005/8/layout/vProcess5"/>
    <dgm:cxn modelId="{EA70F07F-2695-48ED-BD24-D323A18CA00D}" type="presOf" srcId="{BC5C9F3E-3AF2-42D3-A3C6-D46729CEC0F9}" destId="{D595EACE-6079-4D06-B55A-B037D92B8410}" srcOrd="0" destOrd="0" presId="urn:microsoft.com/office/officeart/2005/8/layout/vProcess5"/>
    <dgm:cxn modelId="{43E09D84-3AB5-406A-9603-37C9FF9C3094}" type="presOf" srcId="{DF247DED-C620-4723-A0EF-4977C28F718B}" destId="{715A4B6F-A6F4-4D0B-8B3B-6AB1AA9602E3}" srcOrd="0" destOrd="0" presId="urn:microsoft.com/office/officeart/2005/8/layout/vProcess5"/>
    <dgm:cxn modelId="{2942EA88-008C-41CF-B20E-7329DF3361C6}" srcId="{BC5C9F3E-3AF2-42D3-A3C6-D46729CEC0F9}" destId="{2305EFA2-52ED-4600-826C-BC5CDB8CAADB}" srcOrd="0" destOrd="0" parTransId="{3A298645-61BD-4B19-8B87-B84650FD31E3}" sibTransId="{5539D53A-88F8-439D-9519-11A0F8E75870}"/>
    <dgm:cxn modelId="{E6A05B8E-BA03-4590-BA3E-311AAB2AA5F3}" type="presOf" srcId="{13644CF9-2593-4D01-9900-A4031E0DEE08}" destId="{2CBCF573-B1AA-4AB6-B0A6-B0D798530C17}" srcOrd="1" destOrd="0" presId="urn:microsoft.com/office/officeart/2005/8/layout/vProcess5"/>
    <dgm:cxn modelId="{6033AFAE-C905-4FF4-87A9-8335E62B934C}" type="presOf" srcId="{B8189E1E-58B4-42D2-AE0C-8CA70BA19B11}" destId="{255A54BE-FC7E-48BA-9D13-B76AE434D302}" srcOrd="1" destOrd="0" presId="urn:microsoft.com/office/officeart/2005/8/layout/vProcess5"/>
    <dgm:cxn modelId="{DCE9F2BB-D086-4936-A48C-5E5E6911E84D}" srcId="{BC5C9F3E-3AF2-42D3-A3C6-D46729CEC0F9}" destId="{B8189E1E-58B4-42D2-AE0C-8CA70BA19B11}" srcOrd="2" destOrd="0" parTransId="{5882720A-F9A6-405B-B060-DDD26EC4930A}" sibTransId="{30502DB2-F270-47DB-A8FF-CDCCC5E274C3}"/>
    <dgm:cxn modelId="{A8DD8CBE-7D69-4CE6-A128-E5525504968C}" type="presOf" srcId="{2305EFA2-52ED-4600-826C-BC5CDB8CAADB}" destId="{E736CFFD-4266-4073-8D9F-D515CB2DB902}" srcOrd="1" destOrd="0" presId="urn:microsoft.com/office/officeart/2005/8/layout/vProcess5"/>
    <dgm:cxn modelId="{256EB2BF-F298-400B-9249-B4EF1FFD70DB}" srcId="{BC5C9F3E-3AF2-42D3-A3C6-D46729CEC0F9}" destId="{13644CF9-2593-4D01-9900-A4031E0DEE08}" srcOrd="3" destOrd="0" parTransId="{5EAF34AB-B197-4310-9B91-FE4439D55251}" sibTransId="{F2363876-36BD-4D66-87CE-1B3EAAB9B195}"/>
    <dgm:cxn modelId="{87BB8BDE-BE43-4E3C-8188-7C54E7991708}" type="presOf" srcId="{B8189E1E-58B4-42D2-AE0C-8CA70BA19B11}" destId="{0B19148A-5EF4-4B5F-A93D-5C622CD0967E}" srcOrd="0" destOrd="0" presId="urn:microsoft.com/office/officeart/2005/8/layout/vProcess5"/>
    <dgm:cxn modelId="{667769BF-7FAB-43A6-84D0-C055AF6BEEC0}" type="presParOf" srcId="{D595EACE-6079-4D06-B55A-B037D92B8410}" destId="{1DB7DA6A-817F-46B3-8225-1204D8E57782}" srcOrd="0" destOrd="0" presId="urn:microsoft.com/office/officeart/2005/8/layout/vProcess5"/>
    <dgm:cxn modelId="{873E634B-751B-4B7C-992A-F2FFF6A8BCE2}" type="presParOf" srcId="{D595EACE-6079-4D06-B55A-B037D92B8410}" destId="{DDDBC330-E7E2-46D5-A29B-91CF30D180E2}" srcOrd="1" destOrd="0" presId="urn:microsoft.com/office/officeart/2005/8/layout/vProcess5"/>
    <dgm:cxn modelId="{4FBA16FF-C3E8-4B4C-B96D-608742DE889B}" type="presParOf" srcId="{D595EACE-6079-4D06-B55A-B037D92B8410}" destId="{715A4B6F-A6F4-4D0B-8B3B-6AB1AA9602E3}" srcOrd="2" destOrd="0" presId="urn:microsoft.com/office/officeart/2005/8/layout/vProcess5"/>
    <dgm:cxn modelId="{CF976EB2-034A-4025-A522-BF63144CE63C}" type="presParOf" srcId="{D595EACE-6079-4D06-B55A-B037D92B8410}" destId="{0B19148A-5EF4-4B5F-A93D-5C622CD0967E}" srcOrd="3" destOrd="0" presId="urn:microsoft.com/office/officeart/2005/8/layout/vProcess5"/>
    <dgm:cxn modelId="{93697DF8-42E2-4B9C-913B-FFEF14EC563F}" type="presParOf" srcId="{D595EACE-6079-4D06-B55A-B037D92B8410}" destId="{DDB1F52A-13B1-4428-8353-15FDB79250B5}" srcOrd="4" destOrd="0" presId="urn:microsoft.com/office/officeart/2005/8/layout/vProcess5"/>
    <dgm:cxn modelId="{53EC6201-56C1-449F-AB78-081E4C6A9E94}" type="presParOf" srcId="{D595EACE-6079-4D06-B55A-B037D92B8410}" destId="{4C732869-91DD-4E37-B4CC-DCC4EF6CDEAD}" srcOrd="5" destOrd="0" presId="urn:microsoft.com/office/officeart/2005/8/layout/vProcess5"/>
    <dgm:cxn modelId="{B9F4BA1D-147C-49E6-89E3-40C4FD4BC077}" type="presParOf" srcId="{D595EACE-6079-4D06-B55A-B037D92B8410}" destId="{FB458FC9-CB1D-4E9C-9EB1-F71FFAFD417B}" srcOrd="6" destOrd="0" presId="urn:microsoft.com/office/officeart/2005/8/layout/vProcess5"/>
    <dgm:cxn modelId="{2589E36D-F206-4223-AE36-A558AD34E112}" type="presParOf" srcId="{D595EACE-6079-4D06-B55A-B037D92B8410}" destId="{B6B3A016-025B-4E97-AC9C-0D582A2A6558}" srcOrd="7" destOrd="0" presId="urn:microsoft.com/office/officeart/2005/8/layout/vProcess5"/>
    <dgm:cxn modelId="{181C5B61-F1D1-4CE7-8CEC-A04057DE5763}" type="presParOf" srcId="{D595EACE-6079-4D06-B55A-B037D92B8410}" destId="{E736CFFD-4266-4073-8D9F-D515CB2DB902}" srcOrd="8" destOrd="0" presId="urn:microsoft.com/office/officeart/2005/8/layout/vProcess5"/>
    <dgm:cxn modelId="{1F82FBA4-784E-43C6-A167-82AD7FB776C6}" type="presParOf" srcId="{D595EACE-6079-4D06-B55A-B037D92B8410}" destId="{4499F0BD-BC75-4D91-B454-4F29EA3612E1}" srcOrd="9" destOrd="0" presId="urn:microsoft.com/office/officeart/2005/8/layout/vProcess5"/>
    <dgm:cxn modelId="{0E0B8711-9099-457F-B3DF-EA9363AD35C7}" type="presParOf" srcId="{D595EACE-6079-4D06-B55A-B037D92B8410}" destId="{255A54BE-FC7E-48BA-9D13-B76AE434D302}" srcOrd="10" destOrd="0" presId="urn:microsoft.com/office/officeart/2005/8/layout/vProcess5"/>
    <dgm:cxn modelId="{DE9CA64F-1840-4E5F-8C87-85571B484F04}" type="presParOf" srcId="{D595EACE-6079-4D06-B55A-B037D92B8410}" destId="{2CBCF573-B1AA-4AB6-B0A6-B0D798530C1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3F7D8D-48E2-4952-8BB0-8B8EF526E1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08892A-79C5-4431-8E9F-4940B51EE4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Pandas: for data manipulation/ cleaning</a:t>
          </a:r>
        </a:p>
      </dgm:t>
    </dgm:pt>
    <dgm:pt modelId="{61E2E34D-0FF2-4810-9446-C3BCD9F1A80E}" type="parTrans" cxnId="{D481315B-2349-47EE-AD39-41D0D663D381}">
      <dgm:prSet/>
      <dgm:spPr/>
      <dgm:t>
        <a:bodyPr/>
        <a:lstStyle/>
        <a:p>
          <a:endParaRPr lang="en-US"/>
        </a:p>
      </dgm:t>
    </dgm:pt>
    <dgm:pt modelId="{F3508B02-E2B2-4610-B236-A977D0AB107B}" type="sibTrans" cxnId="{D481315B-2349-47EE-AD39-41D0D663D381}">
      <dgm:prSet/>
      <dgm:spPr/>
      <dgm:t>
        <a:bodyPr/>
        <a:lstStyle/>
        <a:p>
          <a:endParaRPr lang="en-US"/>
        </a:p>
      </dgm:t>
    </dgm:pt>
    <dgm:pt modelId="{7CE1D2E4-12F1-45F5-A7BA-B87D933635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matplotlib, seaborn, power BI: for data visualization</a:t>
          </a:r>
        </a:p>
      </dgm:t>
    </dgm:pt>
    <dgm:pt modelId="{3621F755-7A86-4564-8853-0929524FB9F2}" type="parTrans" cxnId="{D301A715-9842-4079-963E-74BA5D347654}">
      <dgm:prSet/>
      <dgm:spPr/>
      <dgm:t>
        <a:bodyPr/>
        <a:lstStyle/>
        <a:p>
          <a:endParaRPr lang="en-US"/>
        </a:p>
      </dgm:t>
    </dgm:pt>
    <dgm:pt modelId="{C830831B-AF9A-406A-8834-FB3AC8090C5A}" type="sibTrans" cxnId="{D301A715-9842-4079-963E-74BA5D347654}">
      <dgm:prSet/>
      <dgm:spPr/>
      <dgm:t>
        <a:bodyPr/>
        <a:lstStyle/>
        <a:p>
          <a:endParaRPr lang="en-US"/>
        </a:p>
      </dgm:t>
    </dgm:pt>
    <dgm:pt modelId="{627BB994-7714-4E7E-9D27-DFA7BC462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Scipy</a:t>
          </a:r>
          <a:r>
            <a:rPr lang="en-US" dirty="0"/>
            <a:t>: for correlation analysis</a:t>
          </a:r>
        </a:p>
      </dgm:t>
    </dgm:pt>
    <dgm:pt modelId="{84653D6E-F004-4357-B7E2-B8C53EA52E24}" type="parTrans" cxnId="{DDDD7354-26CE-4941-9905-2AF8832A4C67}">
      <dgm:prSet/>
      <dgm:spPr/>
      <dgm:t>
        <a:bodyPr/>
        <a:lstStyle/>
        <a:p>
          <a:endParaRPr lang="en-US"/>
        </a:p>
      </dgm:t>
    </dgm:pt>
    <dgm:pt modelId="{F063A666-055B-41E6-A32C-0AD3C64852AD}" type="sibTrans" cxnId="{DDDD7354-26CE-4941-9905-2AF8832A4C67}">
      <dgm:prSet/>
      <dgm:spPr/>
      <dgm:t>
        <a:bodyPr/>
        <a:lstStyle/>
        <a:p>
          <a:endParaRPr lang="en-US"/>
        </a:p>
      </dgm:t>
    </dgm:pt>
    <dgm:pt modelId="{AFC5EBAA-EF90-4166-9E69-698E32C419B4}" type="pres">
      <dgm:prSet presAssocID="{B43F7D8D-48E2-4952-8BB0-8B8EF526E10B}" presName="root" presStyleCnt="0">
        <dgm:presLayoutVars>
          <dgm:dir/>
          <dgm:resizeHandles val="exact"/>
        </dgm:presLayoutVars>
      </dgm:prSet>
      <dgm:spPr/>
    </dgm:pt>
    <dgm:pt modelId="{6F4889C3-3F70-4CCF-95E9-5A97CD3AAA50}" type="pres">
      <dgm:prSet presAssocID="{6B08892A-79C5-4431-8E9F-4940B51EE494}" presName="compNode" presStyleCnt="0"/>
      <dgm:spPr/>
    </dgm:pt>
    <dgm:pt modelId="{EAF36C0A-B17E-488C-B4F0-12B527A6B6A1}" type="pres">
      <dgm:prSet presAssocID="{6B08892A-79C5-4431-8E9F-4940B51EE494}" presName="bgRect" presStyleLbl="bgShp" presStyleIdx="0" presStyleCnt="3"/>
      <dgm:spPr/>
    </dgm:pt>
    <dgm:pt modelId="{DC994A68-AB30-4FEB-8CDD-A3668B4B2CDC}" type="pres">
      <dgm:prSet presAssocID="{6B08892A-79C5-4431-8E9F-4940B51EE4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DE9654AB-7BE0-4B6A-A44C-AD90899DCFCF}" type="pres">
      <dgm:prSet presAssocID="{6B08892A-79C5-4431-8E9F-4940B51EE494}" presName="spaceRect" presStyleCnt="0"/>
      <dgm:spPr/>
    </dgm:pt>
    <dgm:pt modelId="{E16FB774-3281-4C40-9581-D1512BCD8E0A}" type="pres">
      <dgm:prSet presAssocID="{6B08892A-79C5-4431-8E9F-4940B51EE494}" presName="parTx" presStyleLbl="revTx" presStyleIdx="0" presStyleCnt="3">
        <dgm:presLayoutVars>
          <dgm:chMax val="0"/>
          <dgm:chPref val="0"/>
        </dgm:presLayoutVars>
      </dgm:prSet>
      <dgm:spPr/>
    </dgm:pt>
    <dgm:pt modelId="{58A0DCFA-0624-4429-AEE6-0356A0448354}" type="pres">
      <dgm:prSet presAssocID="{F3508B02-E2B2-4610-B236-A977D0AB107B}" presName="sibTrans" presStyleCnt="0"/>
      <dgm:spPr/>
    </dgm:pt>
    <dgm:pt modelId="{14E5C425-9C6E-4923-A666-C921393D9017}" type="pres">
      <dgm:prSet presAssocID="{7CE1D2E4-12F1-45F5-A7BA-B87D9336355D}" presName="compNode" presStyleCnt="0"/>
      <dgm:spPr/>
    </dgm:pt>
    <dgm:pt modelId="{53C2A65D-D5EE-42D4-AA8A-5115432F93FC}" type="pres">
      <dgm:prSet presAssocID="{7CE1D2E4-12F1-45F5-A7BA-B87D9336355D}" presName="bgRect" presStyleLbl="bgShp" presStyleIdx="1" presStyleCnt="3"/>
      <dgm:spPr/>
    </dgm:pt>
    <dgm:pt modelId="{3F28911A-6440-4AB4-B159-D92BA1867454}" type="pres">
      <dgm:prSet presAssocID="{7CE1D2E4-12F1-45F5-A7BA-B87D9336355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4172C1A4-18F1-45E8-8C3F-11EFDCD0FF39}" type="pres">
      <dgm:prSet presAssocID="{7CE1D2E4-12F1-45F5-A7BA-B87D9336355D}" presName="spaceRect" presStyleCnt="0"/>
      <dgm:spPr/>
    </dgm:pt>
    <dgm:pt modelId="{91FE7EED-6A42-465C-8278-1ADA1AE2695A}" type="pres">
      <dgm:prSet presAssocID="{7CE1D2E4-12F1-45F5-A7BA-B87D9336355D}" presName="parTx" presStyleLbl="revTx" presStyleIdx="1" presStyleCnt="3">
        <dgm:presLayoutVars>
          <dgm:chMax val="0"/>
          <dgm:chPref val="0"/>
        </dgm:presLayoutVars>
      </dgm:prSet>
      <dgm:spPr/>
    </dgm:pt>
    <dgm:pt modelId="{C3009B05-44B2-4212-B3C4-5F20234516B9}" type="pres">
      <dgm:prSet presAssocID="{C830831B-AF9A-406A-8834-FB3AC8090C5A}" presName="sibTrans" presStyleCnt="0"/>
      <dgm:spPr/>
    </dgm:pt>
    <dgm:pt modelId="{A0629F83-A8D9-4846-B96F-4412A2C68752}" type="pres">
      <dgm:prSet presAssocID="{627BB994-7714-4E7E-9D27-DFA7BC462119}" presName="compNode" presStyleCnt="0"/>
      <dgm:spPr/>
    </dgm:pt>
    <dgm:pt modelId="{32992EBD-6843-45BE-8F7B-D6527775A697}" type="pres">
      <dgm:prSet presAssocID="{627BB994-7714-4E7E-9D27-DFA7BC462119}" presName="bgRect" presStyleLbl="bgShp" presStyleIdx="2" presStyleCnt="3"/>
      <dgm:spPr/>
    </dgm:pt>
    <dgm:pt modelId="{FC92008A-CADE-426C-B27E-C6AA4EBD8B89}" type="pres">
      <dgm:prSet presAssocID="{627BB994-7714-4E7E-9D27-DFA7BC46211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E114817-8909-4376-9A52-EAA23826ADEF}" type="pres">
      <dgm:prSet presAssocID="{627BB994-7714-4E7E-9D27-DFA7BC462119}" presName="spaceRect" presStyleCnt="0"/>
      <dgm:spPr/>
    </dgm:pt>
    <dgm:pt modelId="{2506A023-9E55-4454-813A-42ABADC5997F}" type="pres">
      <dgm:prSet presAssocID="{627BB994-7714-4E7E-9D27-DFA7BC4621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301A715-9842-4079-963E-74BA5D347654}" srcId="{B43F7D8D-48E2-4952-8BB0-8B8EF526E10B}" destId="{7CE1D2E4-12F1-45F5-A7BA-B87D9336355D}" srcOrd="1" destOrd="0" parTransId="{3621F755-7A86-4564-8853-0929524FB9F2}" sibTransId="{C830831B-AF9A-406A-8834-FB3AC8090C5A}"/>
    <dgm:cxn modelId="{D481315B-2349-47EE-AD39-41D0D663D381}" srcId="{B43F7D8D-48E2-4952-8BB0-8B8EF526E10B}" destId="{6B08892A-79C5-4431-8E9F-4940B51EE494}" srcOrd="0" destOrd="0" parTransId="{61E2E34D-0FF2-4810-9446-C3BCD9F1A80E}" sibTransId="{F3508B02-E2B2-4610-B236-A977D0AB107B}"/>
    <dgm:cxn modelId="{D9544F44-BCF5-4241-B8CE-21B7992A0C45}" type="presOf" srcId="{6B08892A-79C5-4431-8E9F-4940B51EE494}" destId="{E16FB774-3281-4C40-9581-D1512BCD8E0A}" srcOrd="0" destOrd="0" presId="urn:microsoft.com/office/officeart/2018/2/layout/IconVerticalSolidList"/>
    <dgm:cxn modelId="{8FCE664E-9D7C-401D-B2B8-F705674B816F}" type="presOf" srcId="{7CE1D2E4-12F1-45F5-A7BA-B87D9336355D}" destId="{91FE7EED-6A42-465C-8278-1ADA1AE2695A}" srcOrd="0" destOrd="0" presId="urn:microsoft.com/office/officeart/2018/2/layout/IconVerticalSolidList"/>
    <dgm:cxn modelId="{E2751772-6357-4A07-9784-2623243BE636}" type="presOf" srcId="{627BB994-7714-4E7E-9D27-DFA7BC462119}" destId="{2506A023-9E55-4454-813A-42ABADC5997F}" srcOrd="0" destOrd="0" presId="urn:microsoft.com/office/officeart/2018/2/layout/IconVerticalSolidList"/>
    <dgm:cxn modelId="{DDDD7354-26CE-4941-9905-2AF8832A4C67}" srcId="{B43F7D8D-48E2-4952-8BB0-8B8EF526E10B}" destId="{627BB994-7714-4E7E-9D27-DFA7BC462119}" srcOrd="2" destOrd="0" parTransId="{84653D6E-F004-4357-B7E2-B8C53EA52E24}" sibTransId="{F063A666-055B-41E6-A32C-0AD3C64852AD}"/>
    <dgm:cxn modelId="{F6EA907E-8C13-449C-915B-4F02CE60D54E}" type="presOf" srcId="{B43F7D8D-48E2-4952-8BB0-8B8EF526E10B}" destId="{AFC5EBAA-EF90-4166-9E69-698E32C419B4}" srcOrd="0" destOrd="0" presId="urn:microsoft.com/office/officeart/2018/2/layout/IconVerticalSolidList"/>
    <dgm:cxn modelId="{404D8C85-4A5C-4E67-8431-E2E87FA0954B}" type="presParOf" srcId="{AFC5EBAA-EF90-4166-9E69-698E32C419B4}" destId="{6F4889C3-3F70-4CCF-95E9-5A97CD3AAA50}" srcOrd="0" destOrd="0" presId="urn:microsoft.com/office/officeart/2018/2/layout/IconVerticalSolidList"/>
    <dgm:cxn modelId="{6F4AF05E-864C-47D0-83F5-55C39F618B57}" type="presParOf" srcId="{6F4889C3-3F70-4CCF-95E9-5A97CD3AAA50}" destId="{EAF36C0A-B17E-488C-B4F0-12B527A6B6A1}" srcOrd="0" destOrd="0" presId="urn:microsoft.com/office/officeart/2018/2/layout/IconVerticalSolidList"/>
    <dgm:cxn modelId="{EEA6337A-9A6E-44E5-83B7-805271CFF2DC}" type="presParOf" srcId="{6F4889C3-3F70-4CCF-95E9-5A97CD3AAA50}" destId="{DC994A68-AB30-4FEB-8CDD-A3668B4B2CDC}" srcOrd="1" destOrd="0" presId="urn:microsoft.com/office/officeart/2018/2/layout/IconVerticalSolidList"/>
    <dgm:cxn modelId="{45A89533-4A97-41A0-8694-E8A4367A9ABC}" type="presParOf" srcId="{6F4889C3-3F70-4CCF-95E9-5A97CD3AAA50}" destId="{DE9654AB-7BE0-4B6A-A44C-AD90899DCFCF}" srcOrd="2" destOrd="0" presId="urn:microsoft.com/office/officeart/2018/2/layout/IconVerticalSolidList"/>
    <dgm:cxn modelId="{4C32E98D-7F31-4884-B2F1-C715C214A617}" type="presParOf" srcId="{6F4889C3-3F70-4CCF-95E9-5A97CD3AAA50}" destId="{E16FB774-3281-4C40-9581-D1512BCD8E0A}" srcOrd="3" destOrd="0" presId="urn:microsoft.com/office/officeart/2018/2/layout/IconVerticalSolidList"/>
    <dgm:cxn modelId="{9BDB57F8-32A9-4835-AED5-6DB4A89894F3}" type="presParOf" srcId="{AFC5EBAA-EF90-4166-9E69-698E32C419B4}" destId="{58A0DCFA-0624-4429-AEE6-0356A0448354}" srcOrd="1" destOrd="0" presId="urn:microsoft.com/office/officeart/2018/2/layout/IconVerticalSolidList"/>
    <dgm:cxn modelId="{4ED1209A-3085-463E-8F44-52FCA23BB33F}" type="presParOf" srcId="{AFC5EBAA-EF90-4166-9E69-698E32C419B4}" destId="{14E5C425-9C6E-4923-A666-C921393D9017}" srcOrd="2" destOrd="0" presId="urn:microsoft.com/office/officeart/2018/2/layout/IconVerticalSolidList"/>
    <dgm:cxn modelId="{6BC3757F-A3E5-4CF3-94F9-8536629DCD30}" type="presParOf" srcId="{14E5C425-9C6E-4923-A666-C921393D9017}" destId="{53C2A65D-D5EE-42D4-AA8A-5115432F93FC}" srcOrd="0" destOrd="0" presId="urn:microsoft.com/office/officeart/2018/2/layout/IconVerticalSolidList"/>
    <dgm:cxn modelId="{61D7E335-34A4-459D-B340-040D802A033A}" type="presParOf" srcId="{14E5C425-9C6E-4923-A666-C921393D9017}" destId="{3F28911A-6440-4AB4-B159-D92BA1867454}" srcOrd="1" destOrd="0" presId="urn:microsoft.com/office/officeart/2018/2/layout/IconVerticalSolidList"/>
    <dgm:cxn modelId="{078340DE-881A-4EF0-A431-DD1BBD6D62CC}" type="presParOf" srcId="{14E5C425-9C6E-4923-A666-C921393D9017}" destId="{4172C1A4-18F1-45E8-8C3F-11EFDCD0FF39}" srcOrd="2" destOrd="0" presId="urn:microsoft.com/office/officeart/2018/2/layout/IconVerticalSolidList"/>
    <dgm:cxn modelId="{791C7643-8525-4D70-90E8-E9F1BD936202}" type="presParOf" srcId="{14E5C425-9C6E-4923-A666-C921393D9017}" destId="{91FE7EED-6A42-465C-8278-1ADA1AE2695A}" srcOrd="3" destOrd="0" presId="urn:microsoft.com/office/officeart/2018/2/layout/IconVerticalSolidList"/>
    <dgm:cxn modelId="{2C8CC73A-ED01-4D85-9689-816FB3B5D1D0}" type="presParOf" srcId="{AFC5EBAA-EF90-4166-9E69-698E32C419B4}" destId="{C3009B05-44B2-4212-B3C4-5F20234516B9}" srcOrd="3" destOrd="0" presId="urn:microsoft.com/office/officeart/2018/2/layout/IconVerticalSolidList"/>
    <dgm:cxn modelId="{D010B4E1-70F9-4933-ACB2-B1DEC3F9AA4C}" type="presParOf" srcId="{AFC5EBAA-EF90-4166-9E69-698E32C419B4}" destId="{A0629F83-A8D9-4846-B96F-4412A2C68752}" srcOrd="4" destOrd="0" presId="urn:microsoft.com/office/officeart/2018/2/layout/IconVerticalSolidList"/>
    <dgm:cxn modelId="{007896D9-AAC4-4670-AD91-39E114F73F4E}" type="presParOf" srcId="{A0629F83-A8D9-4846-B96F-4412A2C68752}" destId="{32992EBD-6843-45BE-8F7B-D6527775A697}" srcOrd="0" destOrd="0" presId="urn:microsoft.com/office/officeart/2018/2/layout/IconVerticalSolidList"/>
    <dgm:cxn modelId="{077E042F-B771-49DD-886C-6661AD2195A3}" type="presParOf" srcId="{A0629F83-A8D9-4846-B96F-4412A2C68752}" destId="{FC92008A-CADE-426C-B27E-C6AA4EBD8B89}" srcOrd="1" destOrd="0" presId="urn:microsoft.com/office/officeart/2018/2/layout/IconVerticalSolidList"/>
    <dgm:cxn modelId="{6761A551-DA3B-4F33-998C-28917B5F3E52}" type="presParOf" srcId="{A0629F83-A8D9-4846-B96F-4412A2C68752}" destId="{7E114817-8909-4376-9A52-EAA23826ADEF}" srcOrd="2" destOrd="0" presId="urn:microsoft.com/office/officeart/2018/2/layout/IconVerticalSolidList"/>
    <dgm:cxn modelId="{F650D37F-3F98-494D-AC2C-4D85A01224D3}" type="presParOf" srcId="{A0629F83-A8D9-4846-B96F-4412A2C68752}" destId="{2506A023-9E55-4454-813A-42ABADC599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BC330-E7E2-46D5-A29B-91CF30D180E2}">
      <dsp:nvSpPr>
        <dsp:cNvPr id="0" name=""/>
        <dsp:cNvSpPr/>
      </dsp:nvSpPr>
      <dsp:spPr>
        <a:xfrm>
          <a:off x="0" y="0"/>
          <a:ext cx="4206240" cy="922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primary dataset used originates from datamontgomery </a:t>
          </a:r>
        </a:p>
      </dsp:txBody>
      <dsp:txXfrm>
        <a:off x="27015" y="27015"/>
        <a:ext cx="3133008" cy="868324"/>
      </dsp:txXfrm>
    </dsp:sp>
    <dsp:sp modelId="{715A4B6F-A6F4-4D0B-8B3B-6AB1AA9602E3}">
      <dsp:nvSpPr>
        <dsp:cNvPr id="0" name=""/>
        <dsp:cNvSpPr/>
      </dsp:nvSpPr>
      <dsp:spPr>
        <a:xfrm>
          <a:off x="352272" y="1090055"/>
          <a:ext cx="4206240" cy="922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38169"/>
                <a:satOff val="13165"/>
                <a:lumOff val="-5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38169"/>
                <a:satOff val="13165"/>
                <a:lumOff val="-5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38169"/>
                <a:satOff val="13165"/>
                <a:lumOff val="-5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approximately 315,000 observations &amp; 30 variables </a:t>
          </a:r>
        </a:p>
      </dsp:txBody>
      <dsp:txXfrm>
        <a:off x="379287" y="1117070"/>
        <a:ext cx="3200407" cy="868324"/>
      </dsp:txXfrm>
    </dsp:sp>
    <dsp:sp modelId="{0B19148A-5EF4-4B5F-A93D-5C622CD0967E}">
      <dsp:nvSpPr>
        <dsp:cNvPr id="0" name=""/>
        <dsp:cNvSpPr/>
      </dsp:nvSpPr>
      <dsp:spPr>
        <a:xfrm>
          <a:off x="699287" y="2180110"/>
          <a:ext cx="4206240" cy="922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76338"/>
                <a:satOff val="26330"/>
                <a:lumOff val="-10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76338"/>
                <a:satOff val="26330"/>
                <a:lumOff val="-10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76338"/>
                <a:satOff val="26330"/>
                <a:lumOff val="-10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gives information about incidents reported to MCPD</a:t>
          </a:r>
        </a:p>
      </dsp:txBody>
      <dsp:txXfrm>
        <a:off x="726302" y="2207125"/>
        <a:ext cx="3205664" cy="868324"/>
      </dsp:txXfrm>
    </dsp:sp>
    <dsp:sp modelId="{DDB1F52A-13B1-4428-8353-15FDB79250B5}">
      <dsp:nvSpPr>
        <dsp:cNvPr id="0" name=""/>
        <dsp:cNvSpPr/>
      </dsp:nvSpPr>
      <dsp:spPr>
        <a:xfrm>
          <a:off x="1051559" y="3270165"/>
          <a:ext cx="4206240" cy="9223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414507"/>
                <a:satOff val="39495"/>
                <a:lumOff val="-1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414507"/>
                <a:satOff val="39495"/>
                <a:lumOff val="-1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414507"/>
                <a:satOff val="39495"/>
                <a:lumOff val="-1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project also used socioeconomic data collected from U.S Census Bureau that provide information about median household income and population across MOCO districts </a:t>
          </a:r>
        </a:p>
      </dsp:txBody>
      <dsp:txXfrm>
        <a:off x="1078574" y="3297180"/>
        <a:ext cx="3200407" cy="868324"/>
      </dsp:txXfrm>
    </dsp:sp>
    <dsp:sp modelId="{4C732869-91DD-4E37-B4CC-DCC4EF6CDEAD}">
      <dsp:nvSpPr>
        <dsp:cNvPr id="0" name=""/>
        <dsp:cNvSpPr/>
      </dsp:nvSpPr>
      <dsp:spPr>
        <a:xfrm>
          <a:off x="3606709" y="706439"/>
          <a:ext cx="599530" cy="5995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3741603" y="706439"/>
        <a:ext cx="329742" cy="451146"/>
      </dsp:txXfrm>
    </dsp:sp>
    <dsp:sp modelId="{FB458FC9-CB1D-4E9C-9EB1-F71FFAFD417B}">
      <dsp:nvSpPr>
        <dsp:cNvPr id="0" name=""/>
        <dsp:cNvSpPr/>
      </dsp:nvSpPr>
      <dsp:spPr>
        <a:xfrm>
          <a:off x="3958982" y="1796494"/>
          <a:ext cx="599530" cy="5995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433784"/>
            <a:satOff val="-3518"/>
            <a:lumOff val="-947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093876" y="1796494"/>
        <a:ext cx="329742" cy="451146"/>
      </dsp:txXfrm>
    </dsp:sp>
    <dsp:sp modelId="{B6B3A016-025B-4E97-AC9C-0D582A2A6558}">
      <dsp:nvSpPr>
        <dsp:cNvPr id="0" name=""/>
        <dsp:cNvSpPr/>
      </dsp:nvSpPr>
      <dsp:spPr>
        <a:xfrm>
          <a:off x="4305997" y="2886550"/>
          <a:ext cx="599530" cy="5995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67568"/>
            <a:satOff val="-7036"/>
            <a:lumOff val="-1895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440891" y="2886550"/>
        <a:ext cx="329742" cy="451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36C0A-B17E-488C-B4F0-12B527A6B6A1}">
      <dsp:nvSpPr>
        <dsp:cNvPr id="0" name=""/>
        <dsp:cNvSpPr/>
      </dsp:nvSpPr>
      <dsp:spPr>
        <a:xfrm>
          <a:off x="0" y="531"/>
          <a:ext cx="5721484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94A68-AB30-4FEB-8CDD-A3668B4B2CD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FB774-3281-4C40-9581-D1512BCD8E0A}">
      <dsp:nvSpPr>
        <dsp:cNvPr id="0" name=""/>
        <dsp:cNvSpPr/>
      </dsp:nvSpPr>
      <dsp:spPr>
        <a:xfrm>
          <a:off x="1435590" y="531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Pandas: for data manipulation/ cleaning</a:t>
          </a:r>
        </a:p>
      </dsp:txBody>
      <dsp:txXfrm>
        <a:off x="1435590" y="531"/>
        <a:ext cx="4285893" cy="1242935"/>
      </dsp:txXfrm>
    </dsp:sp>
    <dsp:sp modelId="{53C2A65D-D5EE-42D4-AA8A-5115432F93FC}">
      <dsp:nvSpPr>
        <dsp:cNvPr id="0" name=""/>
        <dsp:cNvSpPr/>
      </dsp:nvSpPr>
      <dsp:spPr>
        <a:xfrm>
          <a:off x="0" y="1554201"/>
          <a:ext cx="5721484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8911A-6440-4AB4-B159-D92BA186745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E7EED-6A42-465C-8278-1ADA1AE2695A}">
      <dsp:nvSpPr>
        <dsp:cNvPr id="0" name=""/>
        <dsp:cNvSpPr/>
      </dsp:nvSpPr>
      <dsp:spPr>
        <a:xfrm>
          <a:off x="1435590" y="1554201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matplotlib, seaborn, power BI: for data visualization</a:t>
          </a:r>
        </a:p>
      </dsp:txBody>
      <dsp:txXfrm>
        <a:off x="1435590" y="1554201"/>
        <a:ext cx="4285893" cy="1242935"/>
      </dsp:txXfrm>
    </dsp:sp>
    <dsp:sp modelId="{32992EBD-6843-45BE-8F7B-D6527775A697}">
      <dsp:nvSpPr>
        <dsp:cNvPr id="0" name=""/>
        <dsp:cNvSpPr/>
      </dsp:nvSpPr>
      <dsp:spPr>
        <a:xfrm>
          <a:off x="0" y="3107870"/>
          <a:ext cx="5721484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2008A-CADE-426C-B27E-C6AA4EBD8B8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6A023-9E55-4454-813A-42ABADC5997F}">
      <dsp:nvSpPr>
        <dsp:cNvPr id="0" name=""/>
        <dsp:cNvSpPr/>
      </dsp:nvSpPr>
      <dsp:spPr>
        <a:xfrm>
          <a:off x="1435590" y="3107870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Scipy</a:t>
          </a:r>
          <a:r>
            <a:rPr lang="en-US" sz="2300" kern="1200" dirty="0"/>
            <a:t>: for correlation analysis</a:t>
          </a:r>
        </a:p>
      </dsp:txBody>
      <dsp:txXfrm>
        <a:off x="1435590" y="3107870"/>
        <a:ext cx="4285893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93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38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30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60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16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43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87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01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46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83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64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01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44452-606E-64C0-1863-29661CB3B1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20594" b="343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F7D93-FE93-521C-1375-60380B193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en-US" dirty="0"/>
              <a:t>Crime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40A40-A22A-982A-2A80-C676BBCED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>
            <a:normAutofit/>
          </a:bodyPr>
          <a:lstStyle/>
          <a:p>
            <a:r>
              <a:rPr lang="en-US" dirty="0"/>
              <a:t>Carlos Dave Sidney</a:t>
            </a:r>
          </a:p>
          <a:p>
            <a:r>
              <a:rPr lang="en-US" dirty="0"/>
              <a:t>DATA205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794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6B43F-395E-76BF-4528-53A0E7A3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b="1" dirty="0"/>
              <a:t>Project context, Importance, Goals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1C60-728F-B066-A180-1433524AC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Importance of understanding the causes of criminal activities due to concerns about safety </a:t>
            </a:r>
          </a:p>
          <a:p>
            <a:r>
              <a:rPr lang="en-US" dirty="0">
                <a:latin typeface="Abadi" panose="020B0604020104020204" pitchFamily="34" charset="0"/>
              </a:rPr>
              <a:t>The project aims to examine the relationship between crime rate, income, and population. </a:t>
            </a:r>
          </a:p>
          <a:p>
            <a:r>
              <a:rPr lang="en-US" dirty="0">
                <a:latin typeface="Abadi" panose="020B0604020104020204" pitchFamily="34" charset="0"/>
              </a:rPr>
              <a:t>Such project can help tailor strategic approaches for facing criminality and develop better policies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79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A03B6-C4EF-CB8E-0548-E2C382611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053" y="1676535"/>
            <a:ext cx="4777381" cy="333222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DADB9-4762-C8B2-6196-FE9F6AFA7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/>
              <a:t>Data overview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3ECE473-00F9-7017-640D-81BF48390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220671"/>
              </p:ext>
            </p:extLst>
          </p:nvPr>
        </p:nvGraphicFramePr>
        <p:xfrm>
          <a:off x="838201" y="1984443"/>
          <a:ext cx="5257800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73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iant panda face">
            <a:extLst>
              <a:ext uri="{FF2B5EF4-FFF2-40B4-BE49-F238E27FC236}">
                <a16:creationId xmlns:a16="http://schemas.microsoft.com/office/drawing/2014/main" id="{B2BA983A-1BF5-F373-44D8-9C35EFE4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0" r="36567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FD72D-CC92-6D35-63BE-9FDFA603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 b="1" dirty="0"/>
              <a:t>Tools</a:t>
            </a:r>
            <a:r>
              <a:rPr lang="en-US" dirty="0"/>
              <a:t> 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BEBA99D-040B-FB06-D167-93011DEE3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987891"/>
              </p:ext>
            </p:extLst>
          </p:nvPr>
        </p:nvGraphicFramePr>
        <p:xfrm>
          <a:off x="5827048" y="1868487"/>
          <a:ext cx="572148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B3040D9-C8C3-DE37-024F-000CF60EA1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40164">
            <a:off x="7316717" y="254726"/>
            <a:ext cx="1181108" cy="125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13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EF7A5-1936-F257-B827-99FEABEF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en-US" dirty="0"/>
              <a:t>Cleaning process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49CB-7D4A-BA54-644A-C084E7F4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Abadi" panose="020B0604020104020204" pitchFamily="34" charset="0"/>
              </a:rPr>
              <a:t>Imputation of missing values across police district name using the mode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badi" panose="020B0604020104020204" pitchFamily="34" charset="0"/>
              </a:rPr>
              <a:t>Removal of duplicated records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badi" panose="020B0604020104020204" pitchFamily="34" charset="0"/>
              </a:rPr>
              <a:t>Conversion of data types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badi" panose="020B0604020104020204" pitchFamily="34" charset="0"/>
              </a:rPr>
              <a:t>Reconciliation of inconsistent district names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badi" panose="020B0604020104020204" pitchFamily="34" charset="0"/>
              </a:rPr>
              <a:t>This process help ensure data quality, consistency, and readiness.</a:t>
            </a:r>
          </a:p>
          <a:p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9CE9C-A9E2-691B-E997-79B2B2BF7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5"/>
          <a:stretch>
            <a:fillRect/>
          </a:stretch>
        </p:blipFill>
        <p:spPr>
          <a:xfrm>
            <a:off x="7751975" y="1075239"/>
            <a:ext cx="4128603" cy="4128603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4254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23449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84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6143-6AF0-A772-39E9-7431494B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criminal activities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D4C27-E381-E2CB-E878-DF24DA7B4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185"/>
            <a:ext cx="8654143" cy="4980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F278B-FAA2-6432-5D73-EE7569B1D2A2}"/>
              </a:ext>
            </a:extLst>
          </p:cNvPr>
          <p:cNvSpPr txBox="1"/>
          <p:nvPr/>
        </p:nvSpPr>
        <p:spPr>
          <a:xfrm>
            <a:off x="8654143" y="1027906"/>
            <a:ext cx="32983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Crime against property is the most common offense with 170,000 counts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Silver Spring top the list of district with about 67k reports, and it averages 1.18 incidents per day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All these incidents caused a total of approximately 323k victims across the county </a:t>
            </a:r>
          </a:p>
        </p:txBody>
      </p:sp>
    </p:spTree>
    <p:extLst>
      <p:ext uri="{BB962C8B-B14F-4D97-AF65-F5344CB8AC3E}">
        <p14:creationId xmlns:p14="http://schemas.microsoft.com/office/powerpoint/2010/main" val="54551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FF30-ADFE-E5C8-FCC8-6A9EFBCF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income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AC9A8-755D-BB64-B6DA-F71122552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7741"/>
            <a:ext cx="8481248" cy="4576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BE5F2-DDC7-98F2-5053-00CEB61708BE}"/>
              </a:ext>
            </a:extLst>
          </p:cNvPr>
          <p:cNvSpPr txBox="1"/>
          <p:nvPr/>
        </p:nvSpPr>
        <p:spPr>
          <a:xfrm>
            <a:off x="8406325" y="1828800"/>
            <a:ext cx="3580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Over the entire period, 2</a:t>
            </a:r>
            <a:r>
              <a:rPr lang="en-US" baseline="30000" dirty="0">
                <a:latin typeface="Abadi" panose="020B0604020104020204" pitchFamily="34" charset="0"/>
              </a:rPr>
              <a:t>nd</a:t>
            </a:r>
            <a:r>
              <a:rPr lang="en-US" dirty="0">
                <a:latin typeface="Abadi" panose="020B0604020104020204" pitchFamily="34" charset="0"/>
              </a:rPr>
              <a:t> district(Bethesda) has shown the highest income level followed by 1</a:t>
            </a:r>
            <a:r>
              <a:rPr lang="en-US" baseline="30000" dirty="0">
                <a:latin typeface="Abadi" panose="020B0604020104020204" pitchFamily="34" charset="0"/>
              </a:rPr>
              <a:t>st</a:t>
            </a:r>
            <a:r>
              <a:rPr lang="en-US" dirty="0">
                <a:latin typeface="Abadi" panose="020B0604020104020204" pitchFamily="34" charset="0"/>
              </a:rPr>
              <a:t> district(Rockville)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3</a:t>
            </a:r>
            <a:r>
              <a:rPr lang="en-US" baseline="30000" dirty="0">
                <a:latin typeface="Abadi" panose="020B0604020104020204" pitchFamily="34" charset="0"/>
              </a:rPr>
              <a:t>rd</a:t>
            </a:r>
            <a:r>
              <a:rPr lang="en-US" dirty="0">
                <a:latin typeface="Abadi" panose="020B0604020104020204" pitchFamily="34" charset="0"/>
              </a:rPr>
              <a:t> district(Silver Spring) and 6</a:t>
            </a:r>
            <a:r>
              <a:rPr lang="en-US" baseline="30000" dirty="0">
                <a:latin typeface="Abadi" panose="020B0604020104020204" pitchFamily="34" charset="0"/>
              </a:rPr>
              <a:t>th </a:t>
            </a:r>
            <a:r>
              <a:rPr lang="en-US" dirty="0">
                <a:latin typeface="Abadi" panose="020B0604020104020204" pitchFamily="34" charset="0"/>
              </a:rPr>
              <a:t> district (Montgomery village) recorded the lowest income level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There’s a considerable gap between certain districts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There’s an observable growth in income over the period</a:t>
            </a:r>
          </a:p>
        </p:txBody>
      </p:sp>
    </p:spTree>
    <p:extLst>
      <p:ext uri="{BB962C8B-B14F-4D97-AF65-F5344CB8AC3E}">
        <p14:creationId xmlns:p14="http://schemas.microsoft.com/office/powerpoint/2010/main" val="290785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15E8-BFA2-7060-5AEE-7CFAFB19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Crime rate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10050D-7CFC-9A30-6A2C-80F5ED4A4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8654143" cy="4268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0B066D-A38B-6231-F655-AF805693B285}"/>
              </a:ext>
            </a:extLst>
          </p:cNvPr>
          <p:cNvSpPr txBox="1"/>
          <p:nvPr/>
        </p:nvSpPr>
        <p:spPr>
          <a:xfrm>
            <a:off x="8752114" y="1589314"/>
            <a:ext cx="32983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District 3 recorded the highest crime rate over the period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District 5 with the second highest rate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All district have experienced their peak in 2022, but there has been an overall decline ever since</a:t>
            </a:r>
          </a:p>
        </p:txBody>
      </p:sp>
    </p:spTree>
    <p:extLst>
      <p:ext uri="{BB962C8B-B14F-4D97-AF65-F5344CB8AC3E}">
        <p14:creationId xmlns:p14="http://schemas.microsoft.com/office/powerpoint/2010/main" val="910834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A7CB-3BC4-E7F6-B8DC-5BD9650A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Population, Income, and Crime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3F2AD1-3130-ED56-2781-9C46082B3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8418"/>
            <a:ext cx="8997163" cy="3895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42061-9C12-BA95-B039-A304E4A3B274}"/>
              </a:ext>
            </a:extLst>
          </p:cNvPr>
          <p:cNvSpPr txBox="1"/>
          <p:nvPr/>
        </p:nvSpPr>
        <p:spPr>
          <a:xfrm>
            <a:off x="8997163" y="925286"/>
            <a:ext cx="284117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Positioned in the lower income range, with not quite a big population size, district 3  shows a tremendously high crime rate, as opposed to district 6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District 2 and 1are positioned in the higher end of income, they recorded a significantly lower rate  3D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It is to observe that 4D has the lowest rates, yet it has the highest population, and it recorded a high count of incidents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1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0D18-6942-0CCD-5B7F-C39F6856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0D67C-3FD3-5B7E-56CB-0D8C96E90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 spearman correlation was used to examine the strength of the correlation between the factors </a:t>
            </a:r>
          </a:p>
          <a:p>
            <a:r>
              <a:rPr lang="en-US" dirty="0">
                <a:latin typeface="Abadi" panose="020B0604020104020204" pitchFamily="34" charset="0"/>
              </a:rPr>
              <a:t>A spearman correlation was used because it is less influenced by outliers, it does not require that the data to be normally distributed</a:t>
            </a:r>
          </a:p>
          <a:p>
            <a:r>
              <a:rPr lang="en-US" dirty="0">
                <a:latin typeface="Abadi" panose="020B0604020104020204" pitchFamily="34" charset="0"/>
              </a:rPr>
              <a:t>Ho : Income and population have no relationship with crime rate </a:t>
            </a:r>
          </a:p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 Ha : Income and population have a relationship with crime rate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4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C37F-5082-DEAB-B800-06805153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 outcome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BFE392-8C89-A881-8076-C2EE0CEAC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5057758"/>
              </p:ext>
            </p:extLst>
          </p:nvPr>
        </p:nvGraphicFramePr>
        <p:xfrm>
          <a:off x="192505" y="1313210"/>
          <a:ext cx="4967115" cy="2351928"/>
        </p:xfrm>
        <a:graphic>
          <a:graphicData uri="http://schemas.openxmlformats.org/drawingml/2006/table">
            <a:tbl>
              <a:tblPr/>
              <a:tblGrid>
                <a:gridCol w="1655705">
                  <a:extLst>
                    <a:ext uri="{9D8B030D-6E8A-4147-A177-3AD203B41FA5}">
                      <a16:colId xmlns:a16="http://schemas.microsoft.com/office/drawing/2014/main" val="1582775071"/>
                    </a:ext>
                  </a:extLst>
                </a:gridCol>
                <a:gridCol w="1655705">
                  <a:extLst>
                    <a:ext uri="{9D8B030D-6E8A-4147-A177-3AD203B41FA5}">
                      <a16:colId xmlns:a16="http://schemas.microsoft.com/office/drawing/2014/main" val="3767797613"/>
                    </a:ext>
                  </a:extLst>
                </a:gridCol>
                <a:gridCol w="1655705">
                  <a:extLst>
                    <a:ext uri="{9D8B030D-6E8A-4147-A177-3AD203B41FA5}">
                      <a16:colId xmlns:a16="http://schemas.microsoft.com/office/drawing/2014/main" val="1111013097"/>
                    </a:ext>
                  </a:extLst>
                </a:gridCol>
              </a:tblGrid>
              <a:tr h="5879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correlation matrix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annual income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population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715102"/>
                  </a:ext>
                </a:extLst>
              </a:tr>
              <a:tr h="5879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crime_rate_per_100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-0.211326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-0.901673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667079"/>
                  </a:ext>
                </a:extLst>
              </a:tr>
              <a:tr h="5879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annual income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1.000000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0.085199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78373"/>
                  </a:ext>
                </a:extLst>
              </a:tr>
              <a:tr h="5879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Population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0.085199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1.00000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3118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2BEC2E9-17DE-2333-DECF-418967C3F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99875" y="-1383824"/>
            <a:ext cx="13637949" cy="78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FF8A22-E0E0-EB67-E4FC-A176DC175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980924"/>
              </p:ext>
            </p:extLst>
          </p:nvPr>
        </p:nvGraphicFramePr>
        <p:xfrm>
          <a:off x="192505" y="4017356"/>
          <a:ext cx="4967115" cy="2122597"/>
        </p:xfrm>
        <a:graphic>
          <a:graphicData uri="http://schemas.openxmlformats.org/drawingml/2006/table">
            <a:tbl>
              <a:tblPr/>
              <a:tblGrid>
                <a:gridCol w="1655705">
                  <a:extLst>
                    <a:ext uri="{9D8B030D-6E8A-4147-A177-3AD203B41FA5}">
                      <a16:colId xmlns:a16="http://schemas.microsoft.com/office/drawing/2014/main" val="2503867873"/>
                    </a:ext>
                  </a:extLst>
                </a:gridCol>
                <a:gridCol w="1655705">
                  <a:extLst>
                    <a:ext uri="{9D8B030D-6E8A-4147-A177-3AD203B41FA5}">
                      <a16:colId xmlns:a16="http://schemas.microsoft.com/office/drawing/2014/main" val="1587927725"/>
                    </a:ext>
                  </a:extLst>
                </a:gridCol>
                <a:gridCol w="1655705">
                  <a:extLst>
                    <a:ext uri="{9D8B030D-6E8A-4147-A177-3AD203B41FA5}">
                      <a16:colId xmlns:a16="http://schemas.microsoft.com/office/drawing/2014/main" val="566539226"/>
                    </a:ext>
                  </a:extLst>
                </a:gridCol>
              </a:tblGrid>
              <a:tr h="5229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P-values matrix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Income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Population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48688"/>
                  </a:ext>
                </a:extLst>
              </a:tr>
              <a:tr h="5229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crime rate per 1000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2.159995e-01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6.251207e-14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71443"/>
                  </a:ext>
                </a:extLst>
              </a:tr>
              <a:tr h="5229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Income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0.00000000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0.621267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1322"/>
                  </a:ext>
                </a:extLst>
              </a:tr>
              <a:tr h="5229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Population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0.621267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0.00000000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8ACB814A-A836-0D16-4C10-7DEFE2EC5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" y="4017357"/>
            <a:ext cx="13194301" cy="772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E80EA-F77D-88E7-9F07-59E5C0BC5788}"/>
              </a:ext>
            </a:extLst>
          </p:cNvPr>
          <p:cNvSpPr txBox="1"/>
          <p:nvPr/>
        </p:nvSpPr>
        <p:spPr>
          <a:xfrm>
            <a:off x="6096000" y="1187116"/>
            <a:ext cx="55184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The relationship between population and crime rate returned a p-value below the standard threshold, meaning the negative association is not due to random variance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The relationship between income and crime rate returned values that indicates that income is not a reliable predictor 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8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AC313-3F97-FFE2-8098-B9B17CE6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1153571"/>
            <a:ext cx="4069301" cy="44611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Conclusion/Recommendation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A367-D65B-5B61-37F2-31F038222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The descriptive findings identified 3D as the most crime intensive area </a:t>
            </a:r>
          </a:p>
          <a:p>
            <a:r>
              <a:rPr lang="en-US" dirty="0">
                <a:latin typeface="Abadi" panose="020B0604020104020204" pitchFamily="34" charset="0"/>
              </a:rPr>
              <a:t>Population size showed a stronger association with criminal activities while income demonstrated a weaker association according to the spearman correlation analysis conducted, making population size a more reliable driver of criminal activities</a:t>
            </a:r>
          </a:p>
          <a:p>
            <a:r>
              <a:rPr lang="en-US" dirty="0">
                <a:latin typeface="Abadi" panose="020B0604020104020204" pitchFamily="34" charset="0"/>
              </a:rPr>
              <a:t>To better understand criminal activities across Montgomery County, future analysis should incorporate more social indicators, which will enable a better comprehension of the contribution of income and population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191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EBEFB-BDDC-5378-8455-44596EB56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7D651D1-9FCC-2AD3-0E8F-FBD35EA12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03808"/>
            <a:ext cx="5850384" cy="585038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3865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2121</TotalTime>
  <Words>619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Abadi</vt:lpstr>
      <vt:lpstr>Arial</vt:lpstr>
      <vt:lpstr>Calibri</vt:lpstr>
      <vt:lpstr>Century Gothic</vt:lpstr>
      <vt:lpstr>Courier New</vt:lpstr>
      <vt:lpstr>ShapesVTI</vt:lpstr>
      <vt:lpstr>Crime analysis</vt:lpstr>
      <vt:lpstr>Project context, Importance, Goals</vt:lpstr>
      <vt:lpstr>Data overview</vt:lpstr>
      <vt:lpstr>Tools </vt:lpstr>
      <vt:lpstr>Cleaning process</vt:lpstr>
      <vt:lpstr>Summary of criminal activities</vt:lpstr>
      <vt:lpstr>Evolution of income </vt:lpstr>
      <vt:lpstr>Crime rate </vt:lpstr>
      <vt:lpstr>Population, Income, and Crime</vt:lpstr>
      <vt:lpstr>Correlation analysis </vt:lpstr>
      <vt:lpstr>Analysis outcome </vt:lpstr>
      <vt:lpstr>Conclusion/Recommendation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Dave Sidney</dc:creator>
  <cp:lastModifiedBy>Carlos Dave Sidney</cp:lastModifiedBy>
  <cp:revision>2</cp:revision>
  <dcterms:created xsi:type="dcterms:W3CDTF">2026-05-09T13:48:19Z</dcterms:created>
  <dcterms:modified xsi:type="dcterms:W3CDTF">2026-05-11T13:44:56Z</dcterms:modified>
</cp:coreProperties>
</file>